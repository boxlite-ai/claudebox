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3A8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250</c:v>
                </c:pt>
                <c:pt idx="3">
                  <c:v>340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ABD5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150</c:v>
                </c:pt>
                <c:pt idx="2">
                  <c:v>220</c:v>
                </c:pt>
                <c:pt idx="3">
                  <c:v>310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91440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457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ABD59"/>
                </a:solidFill>
                <a:latin typeface="Calibri"/>
              </a:defRPr>
            </a:pPr>
            <a:r>
              <a:t>RISINGWAVE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691640"/>
            <a:ext cx="109728" cy="109728"/>
          </a:xfrm>
          <a:prstGeom prst="ellipse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Presentation Title Goes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DBEAFE"/>
                </a:solidFill>
                <a:latin typeface="Calibri"/>
              </a:defRPr>
            </a:pPr>
            <a:r>
              <a:t>Event Streaming Platform for Agents, Apps, and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572000"/>
            <a:ext cx="2286000" cy="36576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BEAFE"/>
                </a:solidFill>
                <a:latin typeface="Calibri"/>
              </a:defRPr>
            </a:pPr>
            <a:r>
              <a:t>Presenter Name  |  Title  |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Today's Topics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E3A8A"/>
                </a:solidFill>
                <a:latin typeface="Calibri"/>
              </a:defRPr>
            </a:pPr>
            <a:r>
              <a:t>Overview &amp;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Brief overview of today's presentation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E3A8A"/>
                </a:solidFill>
                <a:latin typeface="Calibri"/>
              </a:defRPr>
            </a:pPr>
            <a:r>
              <a:t>Key Insights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Important metrics and 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E3A8A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Architecture and implementation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E3A8A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Future plans and action items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2926080"/>
            <a:ext cx="1371600" cy="1371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0" y="29260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292608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Content Slide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Supporting description text that provides context for the content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28600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1F2937"/>
                </a:solidFill>
                <a:latin typeface="Calibri"/>
              </a:defRPr>
              <a:buClr>
                <a:srgbClr val="3B82F6"/>
              </a:buClr>
              <a:buSzPct val="120000"/>
              <a:buChar char="•"/>
            </a:pPr>
            <a:r>
              <a:t>First key point with supporting details and context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1F2937"/>
                </a:solidFill>
                <a:latin typeface="Calibri"/>
              </a:defRPr>
              <a:buClr>
                <a:srgbClr val="3B82F6"/>
              </a:buClr>
              <a:buSzPct val="120000"/>
              <a:buChar char="•"/>
            </a:pPr>
            <a:r>
              <a:t>Second important insight or finding to highlight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1F2937"/>
                </a:solidFill>
                <a:latin typeface="Calibri"/>
              </a:defRPr>
              <a:buClr>
                <a:srgbClr val="3B82F6"/>
              </a:buClr>
              <a:buSzPct val="120000"/>
              <a:buChar char="•"/>
            </a:pPr>
            <a:r>
              <a:t>Third actionable item or recommendation for the audience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1F2937"/>
                </a:solidFill>
                <a:latin typeface="Calibri"/>
              </a:defRPr>
              <a:buClr>
                <a:srgbClr val="3B82F6"/>
              </a:buClr>
              <a:buSzPct val="120000"/>
              <a:buChar char="•"/>
            </a:pPr>
            <a:r>
              <a:t>Fourth point demonstrating depth and thoroughness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1F2937"/>
                </a:solidFill>
                <a:latin typeface="Calibri"/>
              </a:defRPr>
              <a:buClr>
                <a:srgbClr val="3B82F6"/>
              </a:buClr>
              <a:buSzPct val="120000"/>
              <a:buChar char="•"/>
            </a:pPr>
            <a:r>
              <a:t>Fifth conclusion or call to action for next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657600" cy="32004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KEY HIGHLIGHT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1E3A8A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Performance improvement with real-time streaming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Two Column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1E3A8A"/>
              </a:buClr>
              <a:buSzPct val="120000"/>
              <a:buChar char="•"/>
            </a:pPr>
            <a:r>
              <a:t>Complex batch processing pipelines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1E3A8A"/>
              </a:buClr>
              <a:buSzPct val="120000"/>
              <a:buChar char="•"/>
            </a:pPr>
            <a:r>
              <a:t>High latency data processing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1E3A8A"/>
              </a:buClr>
              <a:buSzPct val="120000"/>
              <a:buChar char="•"/>
            </a:pPr>
            <a:r>
              <a:t>Manual scaling and management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1E3A8A"/>
              </a:buClr>
              <a:buSzPct val="120000"/>
              <a:buChar char="•"/>
            </a:pPr>
            <a:r>
              <a:t>Fragmented tooling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Simple SQL-based stream processing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Sub-100ms real-time processing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Auto-scaling cloud-native architecture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Unified streaming + lakehouse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828800"/>
            <a:ext cx="27432" cy="3931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Performance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377440" cy="34747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3774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E3A8A"/>
                </a:solidFill>
                <a:latin typeface="Calibri"/>
              </a:defRPr>
            </a:pPr>
            <a:r>
              <a:t>&lt;100ms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Processing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Real-time stream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011680"/>
            <a:ext cx="2377440" cy="34747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2377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3B82F6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23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Compared to traditional pipelines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377440" cy="34747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23774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06B6D4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Uptime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23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Enterprise-grade reliability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11680"/>
            <a:ext cx="2377440" cy="34747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011680"/>
            <a:ext cx="2377440" cy="73152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468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0ABD59"/>
                </a:solidFill>
                <a:latin typeface="Calibri"/>
              </a:defRPr>
            </a:pPr>
            <a:r>
              <a:t>1000+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23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Across global industries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292608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26080"/>
            <a:ext cx="17373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Kafka, Pulsar,</a:t>
            </a:r>
            <a:br/>
            <a:r>
              <a:t>PostgreSQL CDC,</a:t>
            </a:r>
            <a:br/>
            <a:r>
              <a:t>IoT Devices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3200400"/>
            <a:ext cx="36576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468880" cy="29260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926080"/>
            <a:ext cx="17373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Continuous</a:t>
            </a:r>
            <a:br/>
            <a:r>
              <a:t>Stream Ingestion</a:t>
            </a:r>
            <a:br/>
            <a:r>
              <a:t>&amp; Validation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3200400"/>
            <a:ext cx="36576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468880" cy="2926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926080"/>
            <a:ext cx="17373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SQL-based</a:t>
            </a:r>
            <a:br/>
            <a:r>
              <a:t>Stream Processing</a:t>
            </a:r>
            <a:br/>
            <a:r>
              <a:t>&amp; Transformation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9680" y="3200400"/>
            <a:ext cx="36576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468880" cy="2926080"/>
          </a:xfrm>
          <a:prstGeom prst="roundRect">
            <a:avLst>
              <a:gd name="adj" fmla="val 50000"/>
            </a:avLst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Materialization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926080"/>
            <a:ext cx="17373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Materialized Views</a:t>
            </a:r>
            <a:br/>
            <a:r>
              <a:t>&amp; Real-time</a:t>
            </a:r>
            <a:br/>
            <a:r>
              <a:t>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RisingWave: Unified Streaming + Lakehouse Platform with Apache Iceberg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Oval 14"/>
          <p:cNvSpPr/>
          <p:nvPr/>
        </p:nvSpPr>
        <p:spPr>
          <a:xfrm>
            <a:off x="91440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457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spcAft>
                <a:spcPts val="0"/>
              </a:spcAft>
              <a:defRPr sz="12000" b="1">
                <a:solidFill>
                  <a:srgbClr val="3B82F6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RisingWave fundamentally changed how we think about</a:t>
            </a:r>
            <a:br/>
            <a:r>
              <a:t>real-time data processing. What used to take days</a:t>
            </a:r>
            <a:br/>
            <a:r>
              <a:t>now happens in milliseconds.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1371600" cy="36576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Speaker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BEAFE"/>
                </a:solidFill>
                <a:latin typeface="Calibri"/>
              </a:defRPr>
            </a:pPr>
            <a:r>
              <a:t>Title,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Meet the Team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2011680"/>
            <a:ext cx="1371600" cy="13716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E3A8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7" name="Oval 6"/>
          <p:cNvSpPr/>
          <p:nvPr/>
        </p:nvSpPr>
        <p:spPr>
          <a:xfrm>
            <a:off x="2377440" y="3017520"/>
            <a:ext cx="274320" cy="2743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Role /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Brief description of experience and expertise area.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30175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Role /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Brief description of experience and expertise area.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2011680"/>
            <a:ext cx="1371600" cy="13716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01752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Role /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Brief description of experience and expertise area.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0" y="2011680"/>
            <a:ext cx="1371600" cy="13716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ABD59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2" name="Oval 21"/>
          <p:cNvSpPr/>
          <p:nvPr/>
        </p:nvSpPr>
        <p:spPr>
          <a:xfrm>
            <a:off x="10607040" y="3017520"/>
            <a:ext cx="274320" cy="274320"/>
          </a:xfrm>
          <a:prstGeom prst="ellipse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Team Member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Role /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480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Brief description of experience and expertise area.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DATA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Growth &amp; Performance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28600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Revenue grew 183% YoY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User base expanded 3.9x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Consistent quarter-over-quarter growth</a:t>
            </a:r>
          </a:p>
          <a:p>
            <a:pPr marL="365760" indent="-228600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  <a:buClr>
                <a:srgbClr val="0ABD59"/>
              </a:buClr>
              <a:buSzPct val="120000"/>
              <a:buChar char="•"/>
            </a:pPr>
            <a:r>
              <a:t>Strong product-market fit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3A8A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9601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31546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E3A8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Foundation &amp;</a:t>
            </a:r>
            <a:br/>
            <a:r>
              <a:t>Core Features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31546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Advanced</a:t>
            </a:r>
            <a:br/>
            <a:r>
              <a:t>Integrations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040879" y="31546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19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19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Scale &amp;</a:t>
            </a:r>
            <a:br/>
            <a:r>
              <a:t>Optimization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3154680"/>
            <a:ext cx="502920" cy="502920"/>
          </a:xfrm>
          <a:prstGeom prst="ellipse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ABD59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Enterprise</a:t>
            </a:r>
            <a:br/>
            <a: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91440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943600"/>
            <a:ext cx="3200400" cy="1645920"/>
          </a:xfrm>
          <a:prstGeom prst="ellipse">
            <a:avLst/>
          </a:prstGeom>
          <a:solidFill>
            <a:srgbClr val="3B82F6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457200" y="5943600"/>
            <a:ext cx="3200400" cy="1645920"/>
          </a:xfrm>
          <a:prstGeom prst="ellipse">
            <a:avLst/>
          </a:prstGeom>
          <a:solidFill>
            <a:srgbClr val="3B82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ABD59"/>
                </a:solidFill>
                <a:latin typeface="Calibri"/>
              </a:defRPr>
            </a:pPr>
            <a:r>
              <a:t>RISINGWAVE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291840"/>
            <a:ext cx="1828800" cy="36576"/>
          </a:xfrm>
          <a:prstGeom prst="rect">
            <a:avLst/>
          </a:prstGeom>
          <a:solidFill>
            <a:srgbClr val="0AB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DBEAF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BEAFE"/>
                </a:solidFill>
                <a:latin typeface="Calibri"/>
              </a:defRPr>
            </a:pPr>
            <a:r>
              <a:t>risingwave.com  |  github.com/risingwavelabs  |  contact@risingwave.com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